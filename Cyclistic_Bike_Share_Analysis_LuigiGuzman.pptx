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Members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Sun</c:v>
                  </c:pt>
                  <c:pt idx="1">
                    <c:v>Mon</c:v>
                  </c:pt>
                  <c:pt idx="2">
                    <c:v>Tue</c:v>
                  </c:pt>
                  <c:pt idx="3">
                    <c:v>Wed</c:v>
                  </c:pt>
                  <c:pt idx="4">
                    <c:v>Thu</c:v>
                  </c:pt>
                  <c:pt idx="5">
                    <c:v>Fri</c:v>
                  </c:pt>
                  <c:pt idx="6">
                    <c:v>Sat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59908</c:v>
                </c:pt>
                <c:pt idx="1">
                  <c:v>103520</c:v>
                </c:pt>
                <c:pt idx="2">
                  <c:v>127974</c:v>
                </c:pt>
                <c:pt idx="3">
                  <c:v>124120</c:v>
                </c:pt>
                <c:pt idx="4">
                  <c:v>115390</c:v>
                </c:pt>
                <c:pt idx="5">
                  <c:v>101230</c:v>
                </c:pt>
                <c:pt idx="6">
                  <c:v>79960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Casual Riders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Sun</c:v>
                  </c:pt>
                  <c:pt idx="1">
                    <c:v>Mon</c:v>
                  </c:pt>
                  <c:pt idx="2">
                    <c:v>Tue</c:v>
                  </c:pt>
                  <c:pt idx="3">
                    <c:v>Wed</c:v>
                  </c:pt>
                  <c:pt idx="4">
                    <c:v>Thu</c:v>
                  </c:pt>
                  <c:pt idx="5">
                    <c:v>Fri</c:v>
                  </c:pt>
                  <c:pt idx="6">
                    <c:v>Sat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18652</c:v>
                </c:pt>
                <c:pt idx="1">
                  <c:v>5430</c:v>
                </c:pt>
                <c:pt idx="2">
                  <c:v>5210</c:v>
                </c:pt>
                <c:pt idx="3">
                  <c:v>5490</c:v>
                </c:pt>
                <c:pt idx="4">
                  <c:v>5880</c:v>
                </c:pt>
                <c:pt idx="5">
                  <c:v>8120</c:v>
                </c:pt>
                <c:pt idx="6">
                  <c:v>16870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Ride Duration (min)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2E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Annual Members</c:v>
                  </c:pt>
                  <c:pt idx="1">
                    <c:v>Casual Riders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</c:v>
                </c:pt>
                <c:pt idx="1">
                  <c:v>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A2E3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E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C39A"/>
                </a:solidFill>
              </a:rPr>
              <a:t>GOOGLE DATA ANALYTICS CAPSTONE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Cyclistic Bike-Share</a:t>
            </a:r>
            <a:endParaRPr lang="en-US" sz="4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57200" y="3246120"/>
            <a:ext cx="32004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383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A8D5DB"/>
                </a:solidFill>
              </a:rPr>
              <a:t>How do annual members and casual riders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A8D5DB"/>
                </a:solidFill>
              </a:rPr>
              <a:t>use Cyclistic bikes differently?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8A93"/>
                </a:solidFill>
              </a:rPr>
              <a:t>Luigi Guzman  ·  Prepared for: Lily Moreno, Director of Marketing  ·  Cyclistic Chicago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8090"/>
                </a:solidFill>
              </a:rPr>
              <a:t>BUSINESS TASK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We're Solving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2860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8229600" cy="1005840"/>
          </a:xfrm>
          <a:prstGeom prst="rect">
            <a:avLst/>
          </a:prstGeom>
          <a:solidFill>
            <a:srgbClr val="023E47"/>
          </a:solidFill>
          <a:ln w="12700">
            <a:solidFill>
              <a:srgbClr val="023E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89888"/>
            <a:ext cx="79552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 how annual members and casual riders use Cyclistic bikes differently in order to design a marketing strategy that converts casual riders into annual members.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2560320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Goal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108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Convert casual riders into profitable annual members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54680" y="2606040"/>
            <a:ext cx="2560320" cy="13716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Approach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3108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Analyze Q1 2019 &amp; Q1 2020 data — 791,956 total rides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52160" y="2606040"/>
            <a:ext cx="2560320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Outcome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89320" y="3108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3 data-backed recommendations for the executive team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Cyclistic has 5,824 bikes across 692 stations in Chicago. Finance analysts confirm annual members are significantly more profitable.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8090"/>
                </a:solidFill>
              </a:rPr>
              <a:t>DATA 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 Phase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2860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4023360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Divvy_Trips_2019_Q1.csv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365,069 rows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Q1 2019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4023360" cy="13716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Divvy_Trips_2020_Q1.csv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874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426,887 rows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84632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Q1 2020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1280160" cy="347472"/>
          </a:xfrm>
          <a:prstGeom prst="rect">
            <a:avLst/>
          </a:prstGeom>
          <a:solidFill>
            <a:srgbClr val="023E47"/>
          </a:solidFill>
          <a:ln w="12700">
            <a:solidFill>
              <a:srgbClr val="023E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718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Source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28800" y="2971800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</a:rPr>
              <a:t>Motivate International Inc. (public license)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01568"/>
            <a:ext cx="1280160" cy="347472"/>
          </a:xfrm>
          <a:prstGeom prst="rect">
            <a:avLst/>
          </a:prstGeom>
          <a:solidFill>
            <a:srgbClr val="023E47"/>
          </a:solidFill>
          <a:ln w="12700">
            <a:solidFill>
              <a:srgbClr val="023E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015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fields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0" y="340156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</a:rPr>
              <a:t>ride_id  ·  started_at  ·  ended_at  ·  station names  ·  user type (member / casual)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831336"/>
            <a:ext cx="1280160" cy="347472"/>
          </a:xfrm>
          <a:prstGeom prst="rect">
            <a:avLst/>
          </a:prstGeom>
          <a:solidFill>
            <a:srgbClr val="023E47"/>
          </a:solidFill>
          <a:ln w="12700">
            <a:solidFill>
              <a:srgbClr val="023E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83133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Merged total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28800" y="3831336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</a:rPr>
              <a:t>791,956 rides combined across both datasets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261104"/>
            <a:ext cx="1280160" cy="347472"/>
          </a:xfrm>
          <a:prstGeom prst="rect">
            <a:avLst/>
          </a:prstGeom>
          <a:solidFill>
            <a:srgbClr val="023E47"/>
          </a:solidFill>
          <a:ln w="12700">
            <a:solidFill>
              <a:srgbClr val="023E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26110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Privacy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828800" y="4261104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</a:rPr>
              <a:t>No personally identifiable information included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Data provided under Motivate International Inc. public license. Used for educational purposes only.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8090"/>
                </a:solidFill>
              </a:rPr>
              <a:t>PROCESS PHASE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Processing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2860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4572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05840" y="1371600"/>
            <a:ext cx="7772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37160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</a:rPr>
              <a:t>Renamed columns in 2019 dataset to match 2020 dataset structure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47088"/>
            <a:ext cx="4572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4708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05840" y="1847088"/>
            <a:ext cx="7772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184708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</a:rPr>
              <a:t>Combined both datasets into one dataframe — 791,956 total rows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322576"/>
            <a:ext cx="4572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2257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05840" y="2322576"/>
            <a:ext cx="7772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232257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</a:rPr>
              <a:t>Converted started_at and ended_at columns to datetime format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798064"/>
            <a:ext cx="4572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79806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05840" y="2798064"/>
            <a:ext cx="7772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2798064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</a:rPr>
              <a:t>Created ride_length column — calculated duration in minutes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273552"/>
            <a:ext cx="4572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27355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05840" y="3273552"/>
            <a:ext cx="7772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327355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</a:rPr>
              <a:t>Created day_of_week column — 1 = Sunday through 7 = Saturday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749040"/>
            <a:ext cx="4572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74904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05840" y="3749040"/>
            <a:ext cx="7772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374904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</a:rPr>
              <a:t>Standardized labels: 'Subscriber' → member  |  'Customer' → casual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224528"/>
            <a:ext cx="4572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2245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07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05840" y="4224528"/>
            <a:ext cx="7772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97280" y="422452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</a:rPr>
              <a:t>Removed 210 rows with zero or negative ride_length — 791,746 rows remaining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Tool used: Python (pandas). Final clean dataset: 791,746 rides ready for analysis.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8090"/>
                </a:solidFill>
              </a:rPr>
              <a:t>KEY FINDINGS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Members commute. Casual riders explore.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2860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1920240" cy="1234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8988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85 min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19933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Avg. casual ride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325880"/>
            <a:ext cx="1920240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138988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13 min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651760" y="19933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Avg. member ride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325880"/>
            <a:ext cx="1920240" cy="1234440"/>
          </a:xfrm>
          <a:prstGeom prst="rect">
            <a:avLst/>
          </a:prstGeom>
          <a:solidFill>
            <a:srgbClr val="023E47"/>
          </a:solidFill>
          <a:ln w="12700">
            <a:solidFill>
              <a:srgbClr val="023E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38988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6×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754880" y="19933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Longer — casual vs member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1325880"/>
            <a:ext cx="1920240" cy="1234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138988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6×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858000" y="19933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More rides — members vs casual</a:t>
            </a:r>
            <a:endParaRPr lang="en-US" sz="10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457200" y="2788920"/>
          <a:ext cx="59436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6583680" y="2788920"/>
            <a:ext cx="2377440" cy="2103120"/>
          </a:xfrm>
          <a:prstGeom prst="rect">
            <a:avLst/>
          </a:prstGeom>
          <a:solidFill>
            <a:srgbClr val="023E47"/>
          </a:solidFill>
          <a:ln w="12700">
            <a:solidFill>
              <a:srgbClr val="023E4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20840" y="29077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Members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720840" y="321868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Peak Tuesday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127,974 rides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720840" y="3858768"/>
            <a:ext cx="192024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20840" y="39502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</a:rPr>
              <a:t>Casual Riders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720840" y="42519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Peak Sunday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18,652 rides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Ride counts based on combined Q1 2019 &amp; Q1 2020 dataset — 791,746 clean rides.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8090"/>
                </a:solidFill>
              </a:rPr>
              <a:t>VISUALIZATION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Casual riders take dramatically longer trips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2860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457200" y="128016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943600" y="1371600"/>
            <a:ext cx="2926080" cy="10789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35040" y="1463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85 min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035040" y="20299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Casual avg. ride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43600" y="2633472"/>
            <a:ext cx="292608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0" y="27249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13 min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603504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Member avg. ride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43600" y="3895344"/>
            <a:ext cx="2926080" cy="1078992"/>
          </a:xfrm>
          <a:prstGeom prst="rect">
            <a:avLst/>
          </a:prstGeom>
          <a:solidFill>
            <a:srgbClr val="023E47"/>
          </a:solidFill>
          <a:ln w="12700">
            <a:solidFill>
              <a:srgbClr val="023E4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35040" y="398678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6.5×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6035040" y="45537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Casual rides are longer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Insight: Casual riders use bikes for leisure and city exploration — not daily commuting.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3E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C39A"/>
                </a:solidFill>
              </a:rPr>
              <a:t>RECOMMENDATIONS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3 Actions for Moreno's Team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32004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8503920" cy="1051560"/>
          </a:xfrm>
          <a:prstGeom prst="rect">
            <a:avLst/>
          </a:prstGeom>
          <a:solidFill>
            <a:srgbClr val="02303A"/>
          </a:solidFill>
          <a:ln w="12700">
            <a:solidFill>
              <a:srgbClr val="034A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17320"/>
            <a:ext cx="685800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17320"/>
            <a:ext cx="685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15087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Launch a weekend membership plan at a lower price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82880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D4D9"/>
                </a:solidFill>
              </a:rPr>
              <a:t>Casual riders are most active on Saturdays and Sundays. A weekend-specific plan lowers the barrier to convert them into paying members.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1554480"/>
            <a:ext cx="2697480" cy="256032"/>
          </a:xfrm>
          <a:prstGeom prst="rect">
            <a:avLst/>
          </a:prstGeom>
          <a:solidFill>
            <a:srgbClr val="034A57"/>
          </a:solidFill>
          <a:ln w="12700">
            <a:solidFill>
              <a:srgbClr val="0460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15544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Weekend plan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0" y="1865376"/>
            <a:ext cx="2697480" cy="256032"/>
          </a:xfrm>
          <a:prstGeom prst="rect">
            <a:avLst/>
          </a:prstGeom>
          <a:solidFill>
            <a:srgbClr val="034A57"/>
          </a:solidFill>
          <a:ln w="12700">
            <a:solidFill>
              <a:srgbClr val="0460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86537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Lower price point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2176272"/>
            <a:ext cx="2697480" cy="256032"/>
          </a:xfrm>
          <a:prstGeom prst="rect">
            <a:avLst/>
          </a:prstGeom>
          <a:solidFill>
            <a:srgbClr val="034A57"/>
          </a:solidFill>
          <a:ln w="12700">
            <a:solidFill>
              <a:srgbClr val="0460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217627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Fri–Sun targeting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606040"/>
            <a:ext cx="8503920" cy="1051560"/>
          </a:xfrm>
          <a:prstGeom prst="rect">
            <a:avLst/>
          </a:prstGeom>
          <a:solidFill>
            <a:srgbClr val="02303A"/>
          </a:solidFill>
          <a:ln w="12700">
            <a:solidFill>
              <a:srgbClr val="034A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606040"/>
            <a:ext cx="685800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606040"/>
            <a:ext cx="685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" y="2697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Run digital marketing campaigns on Fridays and Saturdays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30175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D4D9"/>
                </a:solidFill>
              </a:rPr>
              <a:t>That is when casual riders are most active and most likely to consider a membership. Geo-targeted social ads at peak casual-rider stations.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35040" y="2743200"/>
            <a:ext cx="2697480" cy="256032"/>
          </a:xfrm>
          <a:prstGeom prst="rect">
            <a:avLst/>
          </a:prstGeom>
          <a:solidFill>
            <a:srgbClr val="034A57"/>
          </a:solidFill>
          <a:ln w="12700">
            <a:solidFill>
              <a:srgbClr val="0460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27432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Social media ads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35040" y="3054096"/>
            <a:ext cx="2697480" cy="256032"/>
          </a:xfrm>
          <a:prstGeom prst="rect">
            <a:avLst/>
          </a:prstGeom>
          <a:solidFill>
            <a:srgbClr val="034A57"/>
          </a:solidFill>
          <a:ln w="12700">
            <a:solidFill>
              <a:srgbClr val="0460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305409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Geofencing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35040" y="3364992"/>
            <a:ext cx="2697480" cy="256032"/>
          </a:xfrm>
          <a:prstGeom prst="rect">
            <a:avLst/>
          </a:prstGeom>
          <a:solidFill>
            <a:srgbClr val="034A57"/>
          </a:solidFill>
          <a:ln w="12700">
            <a:solidFill>
              <a:srgbClr val="0460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336499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Peak day targeting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794760"/>
            <a:ext cx="8503920" cy="1051560"/>
          </a:xfrm>
          <a:prstGeom prst="rect">
            <a:avLst/>
          </a:prstGeom>
          <a:solidFill>
            <a:srgbClr val="02303A"/>
          </a:solidFill>
          <a:ln w="12700">
            <a:solidFill>
              <a:srgbClr val="034A5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794760"/>
            <a:ext cx="685800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794760"/>
            <a:ext cx="685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43000" y="3886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Show the cost savings of annual membership vs per ride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43000" y="42062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D4D9"/>
                </a:solidFill>
              </a:rPr>
              <a:t>Casual riders average 85 minutes per ride — making annual membership clearly more economical for frequent weekend users.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35040" y="3931920"/>
            <a:ext cx="2697480" cy="256032"/>
          </a:xfrm>
          <a:prstGeom prst="rect">
            <a:avLst/>
          </a:prstGeom>
          <a:solidFill>
            <a:srgbClr val="034A57"/>
          </a:solidFill>
          <a:ln w="12700">
            <a:solidFill>
              <a:srgbClr val="04607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0760" y="39319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Cost calculator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035040" y="4242816"/>
            <a:ext cx="2697480" cy="256032"/>
          </a:xfrm>
          <a:prstGeom prst="rect">
            <a:avLst/>
          </a:prstGeom>
          <a:solidFill>
            <a:srgbClr val="034A57"/>
          </a:solidFill>
          <a:ln w="12700">
            <a:solidFill>
              <a:srgbClr val="04607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80760" y="424281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85 min avg ride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35040" y="4553712"/>
            <a:ext cx="2697480" cy="256032"/>
          </a:xfrm>
          <a:prstGeom prst="rect">
            <a:avLst/>
          </a:prstGeom>
          <a:solidFill>
            <a:srgbClr val="034A57"/>
          </a:solidFill>
          <a:ln w="12700">
            <a:solidFill>
              <a:srgbClr val="04607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80760" y="45537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Value messaging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3E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6167"/>
                </a:solidFill>
              </a:rPr>
              <a:t>CONCLUSION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Final Takeaway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32004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8503920" cy="777240"/>
          </a:xfrm>
          <a:prstGeom prst="rect">
            <a:avLst/>
          </a:prstGeom>
          <a:solidFill>
            <a:srgbClr val="02303A"/>
          </a:solidFill>
          <a:ln w="12700">
            <a:solidFill>
              <a:srgbClr val="034A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4475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C8E8EC"/>
                </a:solidFill>
              </a:rPr>
              <a:t>Annual members and casual riders use Cyclistic bikes very differently — and casual riders already know and use the service, making conversion achievable.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423160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3317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5DB"/>
                </a:solidFill>
              </a:rPr>
              <a:t>Members use bikes for daily commuting — short, frequent, weekday rides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852928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76148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5DB"/>
                </a:solidFill>
              </a:rPr>
              <a:t>Casual riders use bikes for leisure — long, infrequent, weekend rides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282696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19125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5DB"/>
                </a:solidFill>
              </a:rPr>
              <a:t>Casual riders take 6× longer rides — annual membership is clearly more economical for them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712464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6210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5DB"/>
                </a:solidFill>
              </a:rPr>
              <a:t>Targeted weekend campaigns and flexible pricing are the key to conversion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142232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0507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5DB"/>
                </a:solidFill>
              </a:rPr>
              <a:t>Digital media (social ads, in-app prompts) can directly reach casual riders at peak moments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7548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8A93"/>
                </a:solidFill>
              </a:rPr>
              <a:t>Thank you  ·  Luigi Guzman  ·  Cyclistic Bike-Share Analysis  ·  Google Data Analytics Capstone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Cyclistic Bike-Share Analysis</dc:title>
  <dc:subject>PptxGenJS Presentation</dc:subject>
  <dc:creator>Luigi Guzman</dc:creator>
  <cp:lastModifiedBy>Luigi Guzman</cp:lastModifiedBy>
  <cp:revision>1</cp:revision>
  <dcterms:created xsi:type="dcterms:W3CDTF">2026-03-16T16:59:40Z</dcterms:created>
  <dcterms:modified xsi:type="dcterms:W3CDTF">2026-03-16T16:59:40Z</dcterms:modified>
</cp:coreProperties>
</file>